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4" r:id="rId7"/>
    <p:sldId id="261" r:id="rId8"/>
    <p:sldId id="275" r:id="rId9"/>
    <p:sldId id="262" r:id="rId10"/>
    <p:sldId id="263" r:id="rId11"/>
    <p:sldId id="276" r:id="rId12"/>
    <p:sldId id="264" r:id="rId13"/>
    <p:sldId id="265" r:id="rId14"/>
    <p:sldId id="266" r:id="rId15"/>
    <p:sldId id="267" r:id="rId16"/>
    <p:sldId id="277" r:id="rId17"/>
    <p:sldId id="268" r:id="rId18"/>
    <p:sldId id="278" r:id="rId19"/>
    <p:sldId id="269" r:id="rId20"/>
    <p:sldId id="270" r:id="rId21"/>
    <p:sldId id="271" r:id="rId22"/>
    <p:sldId id="272" r:id="rId23"/>
    <p:sldId id="273" r:id="rId24"/>
  </p:sldIdLst>
  <p:sldSz cx="12192000" cy="6858000"/>
  <p:notesSz cx="6858000" cy="9144000"/>
  <p:defaultTextStyle>
    <a:defPPr>
      <a:defRPr lang="en-G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40"/>
  </p:normalViewPr>
  <p:slideViewPr>
    <p:cSldViewPr snapToGrid="0">
      <p:cViewPr varScale="1">
        <p:scale>
          <a:sx n="102" d="100"/>
          <a:sy n="102" d="100"/>
        </p:scale>
        <p:origin x="9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0AEE5-2B03-AC13-E11D-A40B69A775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AA6244-144B-F710-9563-8DDD74D634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C6EF9-6246-04B0-EE40-4D5106805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70B12-28AD-6540-B583-639BEF12340F}" type="datetimeFigureOut">
              <a:rPr lang="en-GH" smtClean="0"/>
              <a:t>30/03/2026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53B14-86C2-BD52-795E-854EAC55F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9FFFF-83AB-ABA0-F7D7-7723FAE1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CBB45-036E-E947-9ED4-9F7212BDAECF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897565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E1BDA-EF0F-EFAC-1B5F-928758E64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6CD49-581C-59D2-460D-D2D6BCE7D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99766-EB49-FDAB-9DDD-369D0D0C9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70B12-28AD-6540-B583-639BEF12340F}" type="datetimeFigureOut">
              <a:rPr lang="en-GH" smtClean="0"/>
              <a:t>30/03/2026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325FA-AE80-D694-A351-D7C1889A5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1A6D5-037E-D4F9-1EF5-BB97A1F39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CBB45-036E-E947-9ED4-9F7212BDAECF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217572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22617-FE65-DFD3-AA53-C085F10E8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43A29-8F44-4858-9ECB-ABB22634A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02F89-B1B4-8EDA-966E-8FD6D8ABC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70B12-28AD-6540-B583-639BEF12340F}" type="datetimeFigureOut">
              <a:rPr lang="en-GH" smtClean="0"/>
              <a:t>30/03/2026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0A833-4EC4-9AA1-E86E-225332FB6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D1747-5528-A429-2DD9-F34296CBE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CBB45-036E-E947-9ED4-9F7212BDAECF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609051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576F7-687C-C4C5-1B56-BAB497F43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79FAF-7908-D61B-708F-795144F60F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20E55A-0CDD-2979-BC8E-366D41C098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87DE38-3DB1-A9AF-DBBB-D21B4DF37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70B12-28AD-6540-B583-639BEF12340F}" type="datetimeFigureOut">
              <a:rPr lang="en-GH" smtClean="0"/>
              <a:t>30/03/2026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CB6B42-13E8-E771-032E-3E20FD527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BBF57D-2FD1-AE0B-9178-468095FDB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CBB45-036E-E947-9ED4-9F7212BDAECF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51733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18A84-09B3-6757-7E6D-42C3382B4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29C794-60F1-FBFB-D158-01EBDDBBB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36CD83-13FF-009A-FEF7-F781E0188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B8FF00-D306-A658-D8DE-BF08AE2280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B73049-3321-91B9-7F17-9954CFB31B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46486F-C303-8CB0-E11E-EDC1DC6B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70B12-28AD-6540-B583-639BEF12340F}" type="datetimeFigureOut">
              <a:rPr lang="en-GH" smtClean="0"/>
              <a:t>30/03/2026</a:t>
            </a:fld>
            <a:endParaRPr lang="en-G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3598F8-E33A-53CC-7219-22CAB094A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885705-AE0F-7AD8-435E-07CB20395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CBB45-036E-E947-9ED4-9F7212BDAECF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943400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AFA9B-E712-1ADB-DECE-79B448D0A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9124DD-F1BD-F401-4998-8E1D149DC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70B12-28AD-6540-B583-639BEF12340F}" type="datetimeFigureOut">
              <a:rPr lang="en-GH" smtClean="0"/>
              <a:t>30/03/2026</a:t>
            </a:fld>
            <a:endParaRPr lang="en-G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EEEE3-5C83-8355-B097-3E6984C33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9F69B4-5BA9-6F33-A4A5-C4C76AC65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CBB45-036E-E947-9ED4-9F7212BDAECF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957041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232283-8D55-7C74-537C-C9D4DA66B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70B12-28AD-6540-B583-639BEF12340F}" type="datetimeFigureOut">
              <a:rPr lang="en-GH" smtClean="0"/>
              <a:t>30/03/2026</a:t>
            </a:fld>
            <a:endParaRPr lang="en-G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81ACDC-730D-6E33-A89B-4835EC140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9107D-060B-62CA-0DF6-D67A56FE6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CBB45-036E-E947-9ED4-9F7212BDAECF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323608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456DC-E21C-3D2F-49C5-B7FC78E5E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24D23-399B-F9C6-FF8B-2893F929D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884C9F-F061-6FA3-11D3-BAEE64E73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8F5445-3A89-AA9D-ECC7-2FF172A82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70B12-28AD-6540-B583-639BEF12340F}" type="datetimeFigureOut">
              <a:rPr lang="en-GH" smtClean="0"/>
              <a:t>30/03/2026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56D974-6F16-520F-6567-DE5AA923A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5EA41-60CE-18EE-F85B-2EB089DA3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CBB45-036E-E947-9ED4-9F7212BDAECF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66698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4CB02-2167-F7B3-65F1-9B7DD11D5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720331-C937-22FF-D8B0-8081F13E95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C3D05-97EE-D6D2-127C-E4D12DCB94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9307D9-2201-1635-1815-8CAEA1399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70B12-28AD-6540-B583-639BEF12340F}" type="datetimeFigureOut">
              <a:rPr lang="en-GH" smtClean="0"/>
              <a:t>30/03/2026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69CB1D-B105-037B-4186-3F547F69C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4D7CA4-6D93-F600-FDF7-9BEDE416F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CBB45-036E-E947-9ED4-9F7212BDAECF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75754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BB836-ACE4-CCE8-4629-6AB72D7EE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49CA22-6180-22D2-3B35-4CE88F87AC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8ECC9-4FCA-E291-2B45-C9801AC1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70B12-28AD-6540-B583-639BEF12340F}" type="datetimeFigureOut">
              <a:rPr lang="en-GH" smtClean="0"/>
              <a:t>30/03/2026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448ED-A7B4-07B2-1875-D82F691C3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18342-F0D3-FD6E-BC6E-F820A87A9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CBB45-036E-E947-9ED4-9F7212BDAECF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742562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ED55A9-0C7B-993A-3AD6-B209AE0BF9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53AA6E-1A5C-D509-4778-D303C50B1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D69B7-D757-B05D-44D7-ADD168ED1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70B12-28AD-6540-B583-639BEF12340F}" type="datetimeFigureOut">
              <a:rPr lang="en-GH" smtClean="0"/>
              <a:t>30/03/2026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EEC83-8684-EF61-8A77-68F675C7D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66467-671A-CBE1-409D-1153022EE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CBB45-036E-E947-9ED4-9F7212BDAECF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38086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BDC45E-D13A-9E26-52EE-6D1B0F3AA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A1070-FADD-7819-153E-A21E4AA25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1C4FA-B377-4C99-34A8-89D171639C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70B12-28AD-6540-B583-639BEF12340F}" type="datetimeFigureOut">
              <a:rPr lang="en-GH" smtClean="0"/>
              <a:t>30/03/2026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97111-25EA-FC57-5A53-AC81E5F9E5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A4D5A-8D0A-927E-C7F2-44A553D53F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CBB45-036E-E947-9ED4-9F7212BDAECF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290471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F6867-C5CF-81D0-44E8-64450CC927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90C4CA-F2BF-83F9-23AB-F556C3877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6170" y="4622104"/>
            <a:ext cx="9281786" cy="1565754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Road Accident Analysis Report (2021–2022)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r"/>
            <a:r>
              <a:rPr lang="en-GB" dirty="0">
                <a:solidFill>
                  <a:srgbClr val="000000"/>
                </a:solidFill>
              </a:rPr>
              <a:t>Pascal Obeng-Poku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r"/>
            <a:r>
              <a:rPr lang="en-GB" b="0" i="1" u="none" strike="noStrike" dirty="0">
                <a:solidFill>
                  <a:srgbClr val="000000"/>
                </a:solidFill>
                <a:effectLst/>
              </a:rPr>
              <a:t>Data Analyst</a:t>
            </a:r>
          </a:p>
          <a:p>
            <a:pPr algn="r"/>
            <a:r>
              <a:rPr lang="en-GB" b="0" i="1" u="none" strike="noStrike" dirty="0">
                <a:solidFill>
                  <a:srgbClr val="000000"/>
                </a:solidFill>
                <a:effectLst/>
              </a:rPr>
              <a:t>Tools Used (Python [Pandas, </a:t>
            </a:r>
            <a:r>
              <a:rPr lang="en-GB" i="1" dirty="0" err="1">
                <a:solidFill>
                  <a:srgbClr val="000000"/>
                </a:solidFill>
              </a:rPr>
              <a:t>Numpy</a:t>
            </a:r>
            <a:r>
              <a:rPr lang="en-GB" i="1" dirty="0">
                <a:solidFill>
                  <a:srgbClr val="000000"/>
                </a:solidFill>
              </a:rPr>
              <a:t>, Matplotlib, Seaborn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)</a:t>
            </a:r>
          </a:p>
          <a:p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3FA17C-1C7D-F613-2BED-82734D777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780" y="780669"/>
            <a:ext cx="8392439" cy="364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86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5BEFD-7AC8-9072-DBA6-5E2B7A661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H" sz="3600" b="1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0D881-E2DB-DCC0-2A50-12B05555A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b="1" dirty="0"/>
              <a:t>Objective</a:t>
            </a:r>
            <a:r>
              <a:rPr lang="en-GB" dirty="0"/>
              <a:t>: Identify </a:t>
            </a:r>
            <a:r>
              <a:rPr lang="en-GB" b="1" dirty="0"/>
              <a:t>patterns, risk factors, and prevention strategies</a:t>
            </a:r>
          </a:p>
          <a:p>
            <a:pPr marL="0" indent="0">
              <a:buNone/>
            </a:pPr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Focus area: Time trends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Geographic hotspots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Environmental conditions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Driver behaviour</a:t>
            </a:r>
          </a:p>
          <a:p>
            <a:r>
              <a:rPr lang="en-GB" b="1" dirty="0"/>
              <a:t>307,973 accidents</a:t>
            </a:r>
            <a:r>
              <a:rPr lang="en-GB" dirty="0"/>
              <a:t> and </a:t>
            </a:r>
            <a:r>
              <a:rPr lang="en-GB" b="1" dirty="0"/>
              <a:t>417,883 casualties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 marL="0" indent="0">
              <a:buNone/>
            </a:pP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3426534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D35B3-748B-35A8-F337-5023E9DA8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H" sz="3600" b="1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CB5E2-40DE-A178-0F95-35A70BA60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H" b="0" i="0" u="none" strike="noStrike" dirty="0">
                <a:solidFill>
                  <a:srgbClr val="000000"/>
                </a:solidFill>
                <a:effectLst/>
              </a:rPr>
              <a:t> 307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K accidents | </a:t>
            </a:r>
            <a:r>
              <a:rPr lang="en-GH" b="0" i="0" u="none" strike="noStrike" dirty="0">
                <a:solidFill>
                  <a:srgbClr val="000000"/>
                </a:solidFill>
                <a:effectLst/>
              </a:rPr>
              <a:t> 563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K vehicles | </a:t>
            </a:r>
            <a:r>
              <a:rPr lang="en-GH" b="0" i="0" u="none" strike="noStrike" dirty="0">
                <a:solidFill>
                  <a:srgbClr val="000000"/>
                </a:solidFill>
                <a:effectLst/>
              </a:rPr>
              <a:t> 417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K casualties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 ~85% are slight severity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H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Majority occur in urban areas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 Peak: evenings, Fridays, Oct–Nov</a:t>
            </a:r>
          </a:p>
          <a:p>
            <a:pPr marL="0" indent="0" algn="l">
              <a:buNone/>
            </a:pPr>
            <a:endParaRPr lang="en-GH" b="0" i="0" u="none" strike="noStrike" dirty="0">
              <a:solidFill>
                <a:srgbClr val="000000"/>
              </a:solidFill>
              <a:effectLst/>
            </a:endParaRPr>
          </a:p>
          <a:p>
            <a:pPr marL="0" indent="0"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Implication:</a:t>
            </a:r>
            <a:br>
              <a:rPr lang="en-GB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Accidents are driven by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high exposure, not extreme conditions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1241266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71B75-FCBA-F13D-627E-92132C26E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H" sz="3600" b="1" dirty="0"/>
              <a:t>GEOGRAPHIC INSIGHT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04AAC-3A43-CB3A-B83E-F6E9F9B40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Top High-Risk Areas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Birmingham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Leeds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Manchester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Bradford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Westminster</a:t>
            </a:r>
          </a:p>
          <a:p>
            <a:pPr marL="0" indent="0" algn="l">
              <a:buNone/>
            </a:pP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0" indent="0"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Implication:</a:t>
            </a:r>
            <a:br>
              <a:rPr lang="en-GB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Urban areas =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higher traffic density → higher accident risk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630399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943C3-1865-276B-8EBC-1BB2C391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H" sz="3600" b="1" dirty="0"/>
              <a:t>TEMPORAL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EB944-FCCA-1435-BA70-1849ACC06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2021: 163,554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2022: 144,419 </a:t>
            </a:r>
          </a:p>
          <a:p>
            <a:pPr marL="0" indent="0" algn="l">
              <a:buNone/>
            </a:pPr>
            <a:endParaRPr lang="en-GB" b="1" i="0" u="none" strike="noStrike" dirty="0">
              <a:solidFill>
                <a:srgbClr val="000000"/>
              </a:solidFill>
              <a:effectLst/>
            </a:endParaRPr>
          </a:p>
          <a:p>
            <a:pPr marL="0" indent="0"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Peak Months: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November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October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July</a:t>
            </a:r>
          </a:p>
          <a:p>
            <a:pPr marL="0" indent="0" algn="l">
              <a:buNone/>
            </a:pPr>
            <a:endParaRPr lang="en-GB" b="1" i="0" u="none" strike="noStrike" dirty="0">
              <a:solidFill>
                <a:srgbClr val="000000"/>
              </a:solidFill>
              <a:effectLst/>
            </a:endParaRPr>
          </a:p>
          <a:p>
            <a:pPr marL="0" indent="0"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Implication:</a:t>
            </a:r>
            <a:br>
              <a:rPr lang="en-GB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i="0" u="none" strike="noStrike" dirty="0">
                <a:solidFill>
                  <a:srgbClr val="000000"/>
                </a:solidFill>
                <a:effectLst/>
              </a:rPr>
              <a:t>Late-year spikes due to weather + reduced daylight + travel</a:t>
            </a:r>
          </a:p>
          <a:p>
            <a:pPr marL="0" indent="0">
              <a:buNone/>
            </a:pP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3677731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AB12D-AB58-CCBA-EF12-911CA1FA9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H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B2494E-94AC-94EA-7BDE-547025E1CA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1512" y="1017131"/>
            <a:ext cx="7928976" cy="4823738"/>
          </a:xfrm>
        </p:spPr>
      </p:pic>
    </p:spTree>
    <p:extLst>
      <p:ext uri="{BB962C8B-B14F-4D97-AF65-F5344CB8AC3E}">
        <p14:creationId xmlns:p14="http://schemas.microsoft.com/office/powerpoint/2010/main" val="914218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A7DCB-FB00-C981-3705-14FFF40C4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H" sz="3600" b="1" dirty="0"/>
              <a:t>WEEKLY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6F935-7EF1-73BC-8022-87686ADE9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Friday = highest accidents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Midweek (Tue–Wed) also high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Sunday = lowest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0" indent="0"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Implication:</a:t>
            </a:r>
            <a:br>
              <a:rPr lang="en-GB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i="0" u="none" strike="noStrike" dirty="0">
                <a:solidFill>
                  <a:srgbClr val="000000"/>
                </a:solidFill>
                <a:effectLst/>
              </a:rPr>
              <a:t>Fatigue + increased movement drive end-of-week risk</a:t>
            </a:r>
          </a:p>
          <a:p>
            <a:pPr marL="0" indent="0">
              <a:buNone/>
            </a:pP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1094621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80E27-8D75-FBEF-AC4D-336D3881A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H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7F775D-ED50-2981-F155-35E332A9E0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5546" y="1267863"/>
            <a:ext cx="7220907" cy="4322273"/>
          </a:xfrm>
        </p:spPr>
      </p:pic>
    </p:spTree>
    <p:extLst>
      <p:ext uri="{BB962C8B-B14F-4D97-AF65-F5344CB8AC3E}">
        <p14:creationId xmlns:p14="http://schemas.microsoft.com/office/powerpoint/2010/main" val="1924397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EFBC2-41E1-C8D8-6405-F3C25C526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H" sz="3600" b="1" dirty="0"/>
              <a:t>TIME OF DAY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17479-BC9A-C5BF-05DA-8D8BB7756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Peak Hours: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3 PM – 6 PM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Highest at 17:00</a:t>
            </a:r>
          </a:p>
          <a:p>
            <a:pPr marL="0" indent="0" algn="l">
              <a:buNone/>
            </a:pPr>
            <a:endParaRPr lang="en-GB" b="1" i="0" u="none" strike="noStrike" dirty="0">
              <a:solidFill>
                <a:srgbClr val="000000"/>
              </a:solidFill>
              <a:effectLst/>
            </a:endParaRPr>
          </a:p>
          <a:p>
            <a:pPr marL="0" indent="0"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Implication:</a:t>
            </a:r>
            <a:br>
              <a:rPr lang="en-GB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Rush hour = </a:t>
            </a:r>
            <a:r>
              <a:rPr lang="en-GB" i="0" u="none" strike="noStrike" dirty="0">
                <a:solidFill>
                  <a:srgbClr val="000000"/>
                </a:solidFill>
                <a:effectLst/>
              </a:rPr>
              <a:t>highest congestion + accident probability</a:t>
            </a:r>
          </a:p>
          <a:p>
            <a:pPr marL="0" indent="0">
              <a:buNone/>
            </a:pP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1691903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BC927-3622-E936-0484-CCFFF1CEA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H" sz="3600" b="1" dirty="0"/>
              <a:t>VEHICLE INVOLVEMENT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F5FD5-AE0A-3E7B-638E-4B489A25B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Cars dominate (325K+)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Vans &amp; motorcycles follow</a:t>
            </a:r>
          </a:p>
          <a:p>
            <a:pPr marL="0" indent="0" algn="l">
              <a:buNone/>
            </a:pPr>
            <a:endParaRPr lang="en-GB" b="1" i="0" u="none" strike="noStrike" dirty="0">
              <a:solidFill>
                <a:srgbClr val="000000"/>
              </a:solidFill>
              <a:effectLst/>
            </a:endParaRPr>
          </a:p>
          <a:p>
            <a:pPr marL="0" indent="0"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Implication: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Cars → </a:t>
            </a:r>
            <a:r>
              <a:rPr lang="en-GB" i="0" u="none" strike="noStrike" dirty="0">
                <a:solidFill>
                  <a:srgbClr val="000000"/>
                </a:solidFill>
                <a:effectLst/>
              </a:rPr>
              <a:t>volume-driven risk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</a:rPr>
              <a:t>Motorcycles → higher relative vulnerability</a:t>
            </a:r>
          </a:p>
          <a:p>
            <a:pPr marL="0" indent="0">
              <a:buNone/>
            </a:pP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4049045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3E170-B31C-67AD-2647-2D3A23DF8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H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85D24C-707B-B8F7-7F07-5067B5E78A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5559" y="624512"/>
            <a:ext cx="9180882" cy="5608975"/>
          </a:xfrm>
        </p:spPr>
      </p:pic>
    </p:spTree>
    <p:extLst>
      <p:ext uri="{BB962C8B-B14F-4D97-AF65-F5344CB8AC3E}">
        <p14:creationId xmlns:p14="http://schemas.microsoft.com/office/powerpoint/2010/main" val="1396929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7FEFF-FB9A-C97F-A816-C2A194D29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H" sz="3600" b="1" dirty="0"/>
              <a:t>ENVIRONMENTAL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2F351-7D57-89AC-EB20-949BA832E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Weather: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Most accidents in fine weather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0" indent="0"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Road: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Dry roads dominate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Wet roads → higher severity</a:t>
            </a:r>
          </a:p>
          <a:p>
            <a:pPr marL="0" indent="0" algn="l">
              <a:buNone/>
            </a:pPr>
            <a:endParaRPr lang="en-GB" b="1" i="0" u="none" strike="noStrike" dirty="0">
              <a:solidFill>
                <a:srgbClr val="000000"/>
              </a:solidFill>
              <a:effectLst/>
            </a:endParaRPr>
          </a:p>
          <a:p>
            <a:pPr marL="0" indent="0"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Implication:</a:t>
            </a:r>
            <a:br>
              <a:rPr lang="en-GB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i="0" u="none" strike="noStrike" dirty="0">
                <a:solidFill>
                  <a:srgbClr val="000000"/>
                </a:solidFill>
                <a:effectLst/>
              </a:rPr>
              <a:t>Risk is influenced by behaviour, not just conditions</a:t>
            </a:r>
          </a:p>
          <a:p>
            <a:pPr marL="0" indent="0">
              <a:buNone/>
            </a:pP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542292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160A1-0160-A232-0ABB-1F6C33A0A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H" sz="3600" b="1" dirty="0"/>
              <a:t>URBAN VRS RURAL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43CBE-0049-EC09-E64A-8E1E69F95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Urban: 255K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Rural: 162K</a:t>
            </a:r>
          </a:p>
          <a:p>
            <a:pPr marL="0" indent="0" algn="l">
              <a:buNone/>
            </a:pPr>
            <a:endParaRPr lang="en-GB" b="1" i="0" u="none" strike="noStrike" dirty="0">
              <a:solidFill>
                <a:srgbClr val="000000"/>
              </a:solidFill>
              <a:effectLst/>
            </a:endParaRPr>
          </a:p>
          <a:p>
            <a:pPr marL="0" indent="0"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Implication:</a:t>
            </a:r>
            <a:br>
              <a:rPr lang="en-GB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i="0" u="none" strike="noStrike" dirty="0">
                <a:solidFill>
                  <a:srgbClr val="000000"/>
                </a:solidFill>
                <a:effectLst/>
              </a:rPr>
              <a:t>Urban areas = intersections + congestion = higher risk</a:t>
            </a:r>
          </a:p>
          <a:p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1240452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93B2B-BFAC-1C25-117F-0AFD35E83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H" sz="3600" b="1" dirty="0"/>
              <a:t>SPEED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C1084-20CE-7274-894A-A7BE4D82F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30 mph zones = highest accidents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Higher speeds = fewer but more severe</a:t>
            </a:r>
          </a:p>
          <a:p>
            <a:pPr marL="0" indent="0" algn="l">
              <a:buNone/>
            </a:pPr>
            <a:endParaRPr lang="en-GB" b="1" i="0" u="none" strike="noStrike" dirty="0">
              <a:solidFill>
                <a:srgbClr val="000000"/>
              </a:solidFill>
              <a:effectLst/>
            </a:endParaRPr>
          </a:p>
          <a:p>
            <a:pPr marL="0" indent="0"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Implication:</a:t>
            </a:r>
            <a:br>
              <a:rPr lang="en-GB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i="0" u="none" strike="noStrike" dirty="0">
                <a:solidFill>
                  <a:srgbClr val="000000"/>
                </a:solidFill>
                <a:effectLst/>
              </a:rPr>
              <a:t>Urban low-speed zones are high-frequency risk areas</a:t>
            </a:r>
          </a:p>
          <a:p>
            <a:pPr marL="0" indent="0">
              <a:buNone/>
            </a:pP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314911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C55E3-01E3-0CB6-08F5-7C826B155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H" sz="3600" b="1" dirty="0"/>
              <a:t>ACCIDENT SEVERITY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CBA44-1E65-E852-9C85-FE9FE9128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Slight: ~85%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Serious: 59K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Fatal: 7K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0" indent="0" algn="l">
              <a:buNone/>
            </a:pPr>
            <a:r>
              <a:rPr lang="en-GH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Implication:</a:t>
            </a:r>
            <a:br>
              <a:rPr lang="en-GB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i="0" u="none" strike="noStrike" dirty="0">
                <a:solidFill>
                  <a:srgbClr val="000000"/>
                </a:solidFill>
                <a:effectLst/>
              </a:rPr>
              <a:t>Most are minor, but fatalities remain preventable</a:t>
            </a:r>
          </a:p>
          <a:p>
            <a:pPr marL="0" indent="0">
              <a:buNone/>
            </a:pP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5135538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59C9D-2BC4-02B7-D14A-3988B42B2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H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0D39B8-EC96-6A4A-F177-EC2DD8C565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6038" y="678357"/>
            <a:ext cx="5649239" cy="5501286"/>
          </a:xfrm>
        </p:spPr>
      </p:pic>
    </p:spTree>
    <p:extLst>
      <p:ext uri="{BB962C8B-B14F-4D97-AF65-F5344CB8AC3E}">
        <p14:creationId xmlns:p14="http://schemas.microsoft.com/office/powerpoint/2010/main" val="2050888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64B12-0DDA-034D-7505-64DCBF258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H" sz="3600" b="1" dirty="0"/>
              <a:t>KEY RISK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1E0D5-7E59-F7CC-9582-957588203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High-Risk Scenario:</a:t>
            </a:r>
          </a:p>
          <a:p>
            <a:pPr algn="l"/>
            <a:r>
              <a:rPr lang="en-GB" i="0" u="none" strike="noStrike" dirty="0">
                <a:solidFill>
                  <a:srgbClr val="000000"/>
                </a:solidFill>
                <a:effectLst/>
              </a:rPr>
              <a:t>Urban + 30 mph + Car + Daylight + Evening</a:t>
            </a:r>
          </a:p>
          <a:p>
            <a:pPr marL="0" indent="0" algn="l">
              <a:buNone/>
            </a:pPr>
            <a:endParaRPr lang="en-GB" b="1" i="0" u="none" strike="noStrike" dirty="0">
              <a:solidFill>
                <a:srgbClr val="000000"/>
              </a:solidFill>
              <a:effectLst/>
            </a:endParaRPr>
          </a:p>
          <a:p>
            <a:pPr marL="0" indent="0"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Key Drivers: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Congestion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Rush hour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Seasonal trends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Human factors (fatigue, distraction)</a:t>
            </a:r>
          </a:p>
          <a:p>
            <a:pPr marL="0" indent="0">
              <a:buNone/>
            </a:pP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41336364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57381-D493-9CBC-AC34-C13BFECE4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9796"/>
          </a:xfrm>
        </p:spPr>
        <p:txBody>
          <a:bodyPr>
            <a:normAutofit/>
          </a:bodyPr>
          <a:lstStyle/>
          <a:p>
            <a:r>
              <a:rPr lang="en-GH" sz="3600" b="1" dirty="0"/>
              <a:t>FORECAST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1CAEE7-4264-4299-4AEE-BBFFDA24AE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3449" y="1282700"/>
            <a:ext cx="7861300" cy="4292600"/>
          </a:xfrm>
        </p:spPr>
      </p:pic>
    </p:spTree>
    <p:extLst>
      <p:ext uri="{BB962C8B-B14F-4D97-AF65-F5344CB8AC3E}">
        <p14:creationId xmlns:p14="http://schemas.microsoft.com/office/powerpoint/2010/main" val="37674349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8027-664D-28C3-2267-471327DB9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2008"/>
          </a:xfrm>
        </p:spPr>
        <p:txBody>
          <a:bodyPr>
            <a:normAutofit/>
          </a:bodyPr>
          <a:lstStyle/>
          <a:p>
            <a:r>
              <a:rPr lang="en-GH" sz="3600" b="1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A97A7-4EE1-3AC5-A411-DBC2A893E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995" y="1189973"/>
            <a:ext cx="11115805" cy="4986990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Urban Traffic &amp; Infrastructure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</a:rPr>
              <a:t>Optimize traffic light timing during rush hours (3–6 PM)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</a:rPr>
              <a:t>Introduce dedicated turning lanes at high-risk intersections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</a:rPr>
              <a:t>Deploy real-time traffic monitoring systems in major cities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</a:rPr>
              <a:t>Improve road markings and signage visibility, especially in busy zones</a:t>
            </a:r>
          </a:p>
          <a:p>
            <a:pPr marL="0" indent="0" algn="l">
              <a:buNone/>
            </a:pPr>
            <a:endParaRPr lang="en-GB" b="1" i="0" u="none" strike="noStrike" dirty="0">
              <a:solidFill>
                <a:srgbClr val="000000"/>
              </a:solidFill>
              <a:effectLst/>
            </a:endParaRPr>
          </a:p>
          <a:p>
            <a:pPr marL="0" indent="0"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Driver Behaviour &amp; Enforcement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</a:rPr>
              <a:t>Increase police presence on Fridays and evening hours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</a:rPr>
              <a:t>Enforce strict speed monitoring in 30 mph zones (speed cameras)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</a:rPr>
              <a:t>Launch targeted campaigns on: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</a:rPr>
              <a:t>Distracted driving (mobile phone use)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</a:rPr>
              <a:t>Fatigue during end-of-week driving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</a:rPr>
              <a:t>Introduce penalties for repeat traffic offenders</a:t>
            </a:r>
          </a:p>
          <a:p>
            <a:pPr marL="0" indent="0">
              <a:buNone/>
            </a:pP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12231537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FD0E9-5F5F-D057-614D-8CF0E96BD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7374"/>
          </a:xfrm>
        </p:spPr>
        <p:txBody>
          <a:bodyPr>
            <a:normAutofit/>
          </a:bodyPr>
          <a:lstStyle/>
          <a:p>
            <a:r>
              <a:rPr lang="en-GH" sz="3600" b="1" dirty="0"/>
              <a:t>RECOMMENDATIONS 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D082B-A13D-B9AF-7718-17B3DE2EC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677" y="1327759"/>
            <a:ext cx="11028123" cy="4849204"/>
          </a:xfrm>
        </p:spPr>
        <p:txBody>
          <a:bodyPr>
            <a:normAutofit fontScale="92500" lnSpcReduction="10000"/>
          </a:bodyPr>
          <a:lstStyle/>
          <a:p>
            <a:pPr marL="0" indent="0"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Rush Hour Risk Reduction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Encourage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flexible work hours / staggered commuting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Promote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public transport and carpooling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to reduce congestion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Use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live traffic alerts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via mobile apps to redirect drivers</a:t>
            </a:r>
          </a:p>
          <a:p>
            <a:pPr marL="0" indent="0" algn="l">
              <a:buNone/>
            </a:pPr>
            <a:endParaRPr lang="en-GB" b="1" i="0" u="none" strike="noStrike" dirty="0">
              <a:solidFill>
                <a:srgbClr val="000000"/>
              </a:solidFill>
              <a:effectLst/>
            </a:endParaRPr>
          </a:p>
          <a:p>
            <a:pPr marL="0" indent="0"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Weather &amp; Seasonal Preparedness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Issue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real-time weather-based driving alerts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Pre-treat roads and improve drainage in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rain-prone areas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Increase enforcement and awareness during: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October–November peaks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Holiday travel periods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11730477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EE3B5-3B3B-4FB8-34B7-12ACF9C73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2530"/>
          </a:xfrm>
        </p:spPr>
        <p:txBody>
          <a:bodyPr>
            <a:normAutofit/>
          </a:bodyPr>
          <a:lstStyle/>
          <a:p>
            <a:r>
              <a:rPr lang="en-GH" sz="3600" b="1" dirty="0"/>
              <a:t>RECOM</a:t>
            </a:r>
            <a:r>
              <a:rPr lang="en-GB" sz="3600" b="1" dirty="0"/>
              <a:t>M</a:t>
            </a:r>
            <a:r>
              <a:rPr lang="en-GH" sz="3600" b="1" dirty="0"/>
              <a:t>ENDATIONS III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A8810-8908-AC03-D16E-BED3D7283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203" y="1440493"/>
            <a:ext cx="11015597" cy="4736470"/>
          </a:xfrm>
        </p:spPr>
        <p:txBody>
          <a:bodyPr>
            <a:normAutofit fontScale="92500" lnSpcReduction="10000"/>
          </a:bodyPr>
          <a:lstStyle/>
          <a:p>
            <a:pPr marL="0" indent="0"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High-Risk Road Users (Motorcycles)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Mandatory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protective gear enforcement (helmets, reflective wear)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Create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dedicated motorcycle lanes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where possible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Offer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subsidized rider safety training programs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0" indent="0" algn="l">
              <a:buNone/>
            </a:pPr>
            <a:endParaRPr lang="en-GB" b="1" i="0" u="none" strike="noStrike" dirty="0">
              <a:solidFill>
                <a:srgbClr val="000000"/>
              </a:solidFill>
              <a:effectLst/>
            </a:endParaRPr>
          </a:p>
          <a:p>
            <a:pPr marL="0" indent="0"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Data &amp; Smart City Solutions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Implement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AI-powered accident prediction systems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Use historical data to identify and monitor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accident hotspots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Install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smart cameras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for real-time violation detection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Continuously update policies based on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data insights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27840092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6FF90-F8C8-4271-56A8-B2E29DA60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2738"/>
          </a:xfrm>
        </p:spPr>
        <p:txBody>
          <a:bodyPr>
            <a:normAutofit/>
          </a:bodyPr>
          <a:lstStyle/>
          <a:p>
            <a:r>
              <a:rPr lang="en-GH" sz="3600" b="1" dirty="0"/>
              <a:t>RECOMMENDATIONS IV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6BB39-F659-BF7E-7BF5-497C67C81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458" y="1377864"/>
            <a:ext cx="10652342" cy="4799099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Public Awareness &amp; Education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Introduce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road safety education in schools and workplaces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Run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localized awareness campaigns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in high-risk districts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Use social media for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targeted safety messaging during peak periods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0" indent="0" algn="l">
              <a:buNone/>
            </a:pPr>
            <a:endParaRPr lang="en-GB" b="1" i="0" u="none" strike="noStrike" dirty="0">
              <a:solidFill>
                <a:srgbClr val="000000"/>
              </a:solidFill>
              <a:effectLst/>
            </a:endParaRPr>
          </a:p>
          <a:p>
            <a:pPr marL="0" indent="0"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Emergency Response Improvement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Improve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ambulance response time in urban hotspots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Position emergency units closer to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high-accident zones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Use GPS systems to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optimize emergency routing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21026902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9C7A9-D321-3DC6-E9CE-377044B21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EAD0C-EE1F-97EC-26D0-DEC3BD757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GH" dirty="0"/>
          </a:p>
          <a:p>
            <a:pPr marL="0" indent="0" algn="ctr">
              <a:buNone/>
            </a:pPr>
            <a:endParaRPr lang="en-GH" dirty="0"/>
          </a:p>
          <a:p>
            <a:pPr marL="0" indent="0" algn="ctr">
              <a:buNone/>
            </a:pPr>
            <a:r>
              <a:rPr lang="en-GH" dirty="0"/>
              <a:t>Thank you!!! </a:t>
            </a:r>
          </a:p>
        </p:txBody>
      </p:sp>
    </p:spTree>
    <p:extLst>
      <p:ext uri="{BB962C8B-B14F-4D97-AF65-F5344CB8AC3E}">
        <p14:creationId xmlns:p14="http://schemas.microsoft.com/office/powerpoint/2010/main" val="2879601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634</Words>
  <Application>Microsoft Macintosh PowerPoint</Application>
  <PresentationFormat>Widescreen</PresentationFormat>
  <Paragraphs>142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PowerPoint Presentation</vt:lpstr>
      <vt:lpstr>PROJECT OVERVIEW</vt:lpstr>
      <vt:lpstr>EXECUTIVE SUMMARY</vt:lpstr>
      <vt:lpstr>GEOGRAPHIC INSIGHT</vt:lpstr>
      <vt:lpstr>TEMPORAL TRENDS</vt:lpstr>
      <vt:lpstr>PowerPoint Presentation</vt:lpstr>
      <vt:lpstr>WEEKLY PATTERNS</vt:lpstr>
      <vt:lpstr>PowerPoint Presentation</vt:lpstr>
      <vt:lpstr>TIME OF DAY ANALYSIS</vt:lpstr>
      <vt:lpstr>VEHICLE INVOLVEMENT</vt:lpstr>
      <vt:lpstr>PowerPoint Presentation</vt:lpstr>
      <vt:lpstr>ENVIRONMENTAL CONDITIONS</vt:lpstr>
      <vt:lpstr>URBAN VRS RURAL</vt:lpstr>
      <vt:lpstr>SPEED ANALYSIS</vt:lpstr>
      <vt:lpstr>ACCIDENT SEVERITY</vt:lpstr>
      <vt:lpstr>PowerPoint Presentation</vt:lpstr>
      <vt:lpstr>KEY RISK PATTERNS</vt:lpstr>
      <vt:lpstr>FORECAST</vt:lpstr>
      <vt:lpstr>RECOMMENDATIONS</vt:lpstr>
      <vt:lpstr>RECOMMENDATIONS II</vt:lpstr>
      <vt:lpstr>RECOMMENDATIONS III</vt:lpstr>
      <vt:lpstr>RECOMMENDATIONS IV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2</cp:revision>
  <dcterms:created xsi:type="dcterms:W3CDTF">2026-03-30T17:52:14Z</dcterms:created>
  <dcterms:modified xsi:type="dcterms:W3CDTF">2026-03-30T19:41:21Z</dcterms:modified>
</cp:coreProperties>
</file>